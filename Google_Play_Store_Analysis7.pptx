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3A5F"/>
                </a:solidFill>
                <a:latin typeface="+mn-lt"/>
              </a:defRPr>
            </a:pPr>
            <a:r>
              <a:rPr sz="1200" b="0" i="0" u="none" strike="noStrike">
                <a:solidFill>
                  <a:srgbClr val="1F3A5F"/>
                </a:solidFill>
                <a:latin typeface="+mn-lt"/>
              </a:rPr>
              <a:t>Number of apps by category (top 10)</a:t>
            </a:r>
          </a:p>
        </c:rich>
      </c:tx>
      <c:overlay val="0"/>
    </c:title>
    <c:autoTitleDeleted val="0"/>
    <c:plotArea>
      <c:layout/>
      <c:barChart>
        <c:barDir val="bar"/>
        <c:grouping val="clustered"/>
        <c:varyColors val="0"/>
        <c:ser>
          <c:idx val="0"/>
          <c:order val="0"/>
          <c:tx>
            <c:strRef>
              <c:f>Sheet1!$B$1</c:f>
              <c:strCache>
                <c:ptCount val="1"/>
                <c:pt idx="0">
                  <c:v>Apps</c:v>
                </c:pt>
              </c:strCache>
            </c:strRef>
          </c:tx>
          <c:spPr>
            <a:solidFill>
              <a:srgbClr val="1F3A5F"/>
            </a:solidFill>
            <a:effectLst/>
          </c:spPr>
          <c:invertIfNegative val="0"/>
          <c:dLbls>
            <c:numFmt formatCode="#,##0" sourceLinked="0"/>
            <c:spPr>
              <a:noFill/>
              <a:ln>
                <a:noFill/>
              </a:ln>
              <a:effectLst/>
            </c:spPr>
            <c:txPr>
              <a:bodyPr/>
              <a:lstStyle/>
              <a:p>
                <a:pPr>
                  <a:defRPr sz="1000" b="0" i="0" u="none" strike="noStrike">
                    <a:solidFill>
                      <a:srgbClr val="2222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Family</c:v>
                </c:pt>
                <c:pt idx="1">
                  <c:v>Game</c:v>
                </c:pt>
                <c:pt idx="2">
                  <c:v>Tools</c:v>
                </c:pt>
                <c:pt idx="3">
                  <c:v>Medical</c:v>
                </c:pt>
                <c:pt idx="4">
                  <c:v>Business</c:v>
                </c:pt>
                <c:pt idx="5">
                  <c:v>Productivity</c:v>
                </c:pt>
                <c:pt idx="6">
                  <c:v>Personalization</c:v>
                </c:pt>
                <c:pt idx="7">
                  <c:v>Communication</c:v>
                </c:pt>
                <c:pt idx="8">
                  <c:v>Sports</c:v>
                </c:pt>
                <c:pt idx="9">
                  <c:v>Lifestyle</c:v>
                </c:pt>
              </c:strCache>
            </c:strRef>
          </c:cat>
          <c:val>
            <c:numRef>
              <c:f>Sheet1!$B$2:$B$11</c:f>
              <c:numCache>
                <c:formatCode>General</c:formatCode>
                <c:ptCount val="10"/>
                <c:pt idx="0">
                  <c:v>1972</c:v>
                </c:pt>
                <c:pt idx="1">
                  <c:v>1144</c:v>
                </c:pt>
                <c:pt idx="2">
                  <c:v>843</c:v>
                </c:pt>
                <c:pt idx="3">
                  <c:v>463</c:v>
                </c:pt>
                <c:pt idx="4">
                  <c:v>460</c:v>
                </c:pt>
                <c:pt idx="5">
                  <c:v>424</c:v>
                </c:pt>
                <c:pt idx="6">
                  <c:v>392</c:v>
                </c:pt>
                <c:pt idx="7">
                  <c:v>387</c:v>
                </c:pt>
                <c:pt idx="8">
                  <c:v>384</c:v>
                </c:pt>
                <c:pt idx="9">
                  <c:v>382</c:v>
                </c:pt>
              </c:numCache>
            </c:numRef>
          </c:val>
          <c:extLst>
            <c:ext xmlns:c16="http://schemas.microsoft.com/office/drawing/2014/chart" uri="{C3380CC4-5D6E-409C-BE32-E72D297353CC}">
              <c16:uniqueId val="{00000000-8D51-4170-AA77-6952B9B2CA36}"/>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22222"/>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3A5F"/>
                </a:solidFill>
                <a:latin typeface="+mn-lt"/>
              </a:defRPr>
            </a:pPr>
            <a:r>
              <a:rPr sz="1200" b="0" i="0" u="none" strike="noStrike">
                <a:solidFill>
                  <a:srgbClr val="1F3A5F"/>
                </a:solidFill>
                <a:latin typeface="+mn-lt"/>
              </a:rPr>
              <a:t>Total installs by category (billions)</a:t>
            </a:r>
          </a:p>
        </c:rich>
      </c:tx>
      <c:overlay val="0"/>
    </c:title>
    <c:autoTitleDeleted val="0"/>
    <c:plotArea>
      <c:layout/>
      <c:barChart>
        <c:barDir val="col"/>
        <c:grouping val="clustered"/>
        <c:varyColors val="0"/>
        <c:ser>
          <c:idx val="0"/>
          <c:order val="0"/>
          <c:tx>
            <c:strRef>
              <c:f>Sheet1!$B$1</c:f>
              <c:strCache>
                <c:ptCount val="1"/>
                <c:pt idx="0">
                  <c:v>Installs (billions)</c:v>
                </c:pt>
              </c:strCache>
            </c:strRef>
          </c:tx>
          <c:spPr>
            <a:solidFill>
              <a:srgbClr val="1F3A5F"/>
            </a:solidFill>
            <a:effectLst/>
          </c:spPr>
          <c:invertIfNegative val="0"/>
          <c:dLbls>
            <c:numFmt formatCode="0.0" sourceLinked="0"/>
            <c:spPr>
              <a:noFill/>
              <a:ln>
                <a:noFill/>
              </a:ln>
              <a:effectLst/>
            </c:spPr>
            <c:txPr>
              <a:bodyPr/>
              <a:lstStyle/>
              <a:p>
                <a:pPr>
                  <a:defRPr sz="1000" b="0" i="0" u="none" strike="noStrike">
                    <a:solidFill>
                      <a:srgbClr val="2222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Game</c:v>
                </c:pt>
                <c:pt idx="1">
                  <c:v>Communication</c:v>
                </c:pt>
                <c:pt idx="2">
                  <c:v>Productivity</c:v>
                </c:pt>
                <c:pt idx="3">
                  <c:v>Social</c:v>
                </c:pt>
                <c:pt idx="4">
                  <c:v>Tools</c:v>
                </c:pt>
                <c:pt idx="5">
                  <c:v>Family</c:v>
                </c:pt>
              </c:strCache>
            </c:strRef>
          </c:cat>
          <c:val>
            <c:numRef>
              <c:f>Sheet1!$B$2:$B$7</c:f>
              <c:numCache>
                <c:formatCode>General</c:formatCode>
                <c:ptCount val="6"/>
                <c:pt idx="0">
                  <c:v>35.1</c:v>
                </c:pt>
                <c:pt idx="1">
                  <c:v>32.6</c:v>
                </c:pt>
                <c:pt idx="2">
                  <c:v>14.2</c:v>
                </c:pt>
                <c:pt idx="3">
                  <c:v>14.1</c:v>
                </c:pt>
                <c:pt idx="4">
                  <c:v>11.5</c:v>
                </c:pt>
                <c:pt idx="5">
                  <c:v>10.3</c:v>
                </c:pt>
              </c:numCache>
            </c:numRef>
          </c:val>
          <c:extLst>
            <c:ext xmlns:c16="http://schemas.microsoft.com/office/drawing/2014/chart" uri="{C3380CC4-5D6E-409C-BE32-E72D297353CC}">
              <c16:uniqueId val="{00000000-12CF-4055-8B9A-4271C95460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3A5F"/>
                </a:solidFill>
                <a:latin typeface="+mn-lt"/>
              </a:defRPr>
            </a:pPr>
            <a:r>
              <a:rPr sz="1200" b="0" i="0" u="none" strike="noStrike">
                <a:solidFill>
                  <a:srgbClr val="1F3A5F"/>
                </a:solidFill>
                <a:latin typeface="+mn-lt"/>
              </a:rPr>
              <a:t>App type distribution</a:t>
            </a:r>
          </a:p>
        </c:rich>
      </c:tx>
      <c:overlay val="0"/>
    </c:title>
    <c:autoTitleDeleted val="0"/>
    <c:plotArea>
      <c:layout/>
      <c:doughnutChart>
        <c:varyColors val="1"/>
        <c:ser>
          <c:idx val="0"/>
          <c:order val="0"/>
          <c:tx>
            <c:strRef>
              <c:f>Sheet1!$B$1</c:f>
              <c:strCache>
                <c:ptCount val="1"/>
                <c:pt idx="0">
                  <c:v>Type</c:v>
                </c:pt>
              </c:strCache>
            </c:strRef>
          </c:tx>
          <c:spPr>
            <a:solidFill>
              <a:schemeClr val="accent1"/>
            </a:solidFill>
            <a:ln w="9525" cap="flat">
              <a:solidFill>
                <a:srgbClr val="F9F9F9"/>
              </a:solidFill>
              <a:prstDash val="solid"/>
              <a:round/>
            </a:ln>
            <a:effectLst/>
          </c:spPr>
          <c:dPt>
            <c:idx val="0"/>
            <c:bubble3D val="0"/>
            <c:spPr>
              <a:solidFill>
                <a:srgbClr val="1F3A5F"/>
              </a:solidFill>
              <a:effectLst/>
            </c:spPr>
            <c:extLst>
              <c:ext xmlns:c16="http://schemas.microsoft.com/office/drawing/2014/chart" uri="{C3380CC4-5D6E-409C-BE32-E72D297353CC}">
                <c16:uniqueId val="{00000001-2AF7-477D-B0CC-DD79C253D789}"/>
              </c:ext>
            </c:extLst>
          </c:dPt>
          <c:dPt>
            <c:idx val="1"/>
            <c:bubble3D val="0"/>
            <c:spPr>
              <a:solidFill>
                <a:srgbClr val="9FB3C8"/>
              </a:solidFill>
              <a:effectLst/>
            </c:spPr>
            <c:extLst>
              <c:ext xmlns:c16="http://schemas.microsoft.com/office/drawing/2014/chart" uri="{C3380CC4-5D6E-409C-BE32-E72D297353CC}">
                <c16:uniqueId val="{00000003-2AF7-477D-B0CC-DD79C253D789}"/>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AF7-477D-B0CC-DD79C253D789}"/>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AF7-477D-B0CC-DD79C253D789}"/>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Free</c:v>
                </c:pt>
                <c:pt idx="1">
                  <c:v>Paid</c:v>
                </c:pt>
              </c:strCache>
            </c:strRef>
          </c:cat>
          <c:val>
            <c:numRef>
              <c:f>Sheet1!$B$2:$B$3</c:f>
              <c:numCache>
                <c:formatCode>General</c:formatCode>
                <c:ptCount val="2"/>
                <c:pt idx="0">
                  <c:v>10039</c:v>
                </c:pt>
                <c:pt idx="1">
                  <c:v>800</c:v>
                </c:pt>
              </c:numCache>
            </c:numRef>
          </c:val>
          <c:extLst>
            <c:ext xmlns:c16="http://schemas.microsoft.com/office/drawing/2014/chart" uri="{C3380CC4-5D6E-409C-BE32-E72D297353CC}">
              <c16:uniqueId val="{00000004-2AF7-477D-B0CC-DD79C253D789}"/>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0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3A5F"/>
                </a:solidFill>
                <a:latin typeface="+mn-lt"/>
              </a:defRPr>
            </a:pPr>
            <a:r>
              <a:rPr sz="1200" b="0" i="0" u="none" strike="noStrike">
                <a:solidFill>
                  <a:srgbClr val="1F3A5F"/>
                </a:solidFill>
                <a:latin typeface="+mn-lt"/>
              </a:rPr>
              <a:t>Average rating by content rating</a:t>
            </a:r>
          </a:p>
        </c:rich>
      </c:tx>
      <c:overlay val="0"/>
    </c:title>
    <c:autoTitleDeleted val="0"/>
    <c:plotArea>
      <c:layout/>
      <c:barChart>
        <c:barDir val="col"/>
        <c:grouping val="clustered"/>
        <c:varyColors val="0"/>
        <c:ser>
          <c:idx val="0"/>
          <c:order val="0"/>
          <c:tx>
            <c:strRef>
              <c:f>Sheet1!$B$1</c:f>
              <c:strCache>
                <c:ptCount val="1"/>
                <c:pt idx="0">
                  <c:v>Avg rating</c:v>
                </c:pt>
              </c:strCache>
            </c:strRef>
          </c:tx>
          <c:spPr>
            <a:solidFill>
              <a:srgbClr val="4F6D8F"/>
            </a:solidFill>
            <a:effectLst/>
          </c:spPr>
          <c:invertIfNegative val="0"/>
          <c:dLbls>
            <c:numFmt formatCode="0.0" sourceLinked="0"/>
            <c:spPr>
              <a:noFill/>
              <a:ln>
                <a:noFill/>
              </a:ln>
              <a:effectLst/>
            </c:spPr>
            <c:txPr>
              <a:bodyPr/>
              <a:lstStyle/>
              <a:p>
                <a:pPr>
                  <a:defRPr sz="1000" b="0" i="0" u="none" strike="noStrike">
                    <a:solidFill>
                      <a:srgbClr val="2222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Adults 18+</c:v>
                </c:pt>
                <c:pt idx="1">
                  <c:v>Everyone 10+</c:v>
                </c:pt>
                <c:pt idx="2">
                  <c:v>Mature 17+</c:v>
                </c:pt>
                <c:pt idx="3">
                  <c:v>Teen</c:v>
                </c:pt>
                <c:pt idx="4">
                  <c:v>Everyone</c:v>
                </c:pt>
                <c:pt idx="5">
                  <c:v>Unrated</c:v>
                </c:pt>
              </c:strCache>
            </c:strRef>
          </c:cat>
          <c:val>
            <c:numRef>
              <c:f>Sheet1!$B$2:$B$7</c:f>
              <c:numCache>
                <c:formatCode>General</c:formatCode>
                <c:ptCount val="6"/>
                <c:pt idx="0">
                  <c:v>4.3</c:v>
                </c:pt>
                <c:pt idx="1">
                  <c:v>4.0999999999999996</c:v>
                </c:pt>
                <c:pt idx="2">
                  <c:v>3.8</c:v>
                </c:pt>
                <c:pt idx="3">
                  <c:v>3.8</c:v>
                </c:pt>
                <c:pt idx="4">
                  <c:v>3.6</c:v>
                </c:pt>
                <c:pt idx="5">
                  <c:v>2.1</c:v>
                </c:pt>
              </c:numCache>
            </c:numRef>
          </c:val>
          <c:extLst>
            <c:ext xmlns:c16="http://schemas.microsoft.com/office/drawing/2014/chart" uri="{C3380CC4-5D6E-409C-BE32-E72D297353CC}">
              <c16:uniqueId val="{00000000-E050-432A-B115-EB1164ED740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3A5F"/>
                </a:solidFill>
                <a:latin typeface="+mn-lt"/>
              </a:defRPr>
            </a:pPr>
            <a:r>
              <a:rPr lang="en-US" sz="1200" b="0" i="0" u="none" strike="noStrike">
                <a:solidFill>
                  <a:srgbClr val="1F3A5F"/>
                </a:solidFill>
                <a:latin typeface="+mn-lt"/>
              </a:rPr>
              <a:t>Sentiment distribution</a:t>
            </a:r>
          </a:p>
        </c:rich>
      </c:tx>
      <c:overlay val="0"/>
    </c:title>
    <c:autoTitleDeleted val="0"/>
    <c:plotArea>
      <c:layout/>
      <c:doughnut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1F3A5F"/>
              </a:solidFill>
              <a:effectLst/>
            </c:spPr>
            <c:extLst>
              <c:ext xmlns:c16="http://schemas.microsoft.com/office/drawing/2014/chart" uri="{C3380CC4-5D6E-409C-BE32-E72D297353CC}">
                <c16:uniqueId val="{00000001-38E8-4DA8-B0FC-8DA8A345E140}"/>
              </c:ext>
            </c:extLst>
          </c:dPt>
          <c:dPt>
            <c:idx val="1"/>
            <c:bubble3D val="0"/>
            <c:spPr>
              <a:solidFill>
                <a:srgbClr val="4F6D8F"/>
              </a:solidFill>
              <a:effectLst/>
            </c:spPr>
            <c:extLst>
              <c:ext xmlns:c16="http://schemas.microsoft.com/office/drawing/2014/chart" uri="{C3380CC4-5D6E-409C-BE32-E72D297353CC}">
                <c16:uniqueId val="{00000003-38E8-4DA8-B0FC-8DA8A345E140}"/>
              </c:ext>
            </c:extLst>
          </c:dPt>
          <c:dPt>
            <c:idx val="2"/>
            <c:bubble3D val="0"/>
            <c:spPr>
              <a:solidFill>
                <a:srgbClr val="B5483F"/>
              </a:solidFill>
              <a:effectLst/>
            </c:spPr>
            <c:extLst>
              <c:ext xmlns:c16="http://schemas.microsoft.com/office/drawing/2014/chart" uri="{C3380CC4-5D6E-409C-BE32-E72D297353CC}">
                <c16:uniqueId val="{00000005-38E8-4DA8-B0FC-8DA8A345E140}"/>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8E8-4DA8-B0FC-8DA8A345E140}"/>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8E8-4DA8-B0FC-8DA8A345E140}"/>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38E8-4DA8-B0FC-8DA8A345E14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Neutral</c:v>
                </c:pt>
                <c:pt idx="1">
                  <c:v>Positive</c:v>
                </c:pt>
                <c:pt idx="2">
                  <c:v>Negative</c:v>
                </c:pt>
              </c:strCache>
            </c:strRef>
          </c:cat>
          <c:val>
            <c:numRef>
              <c:f>Sheet1!$B$2:$B$4</c:f>
              <c:numCache>
                <c:formatCode>General</c:formatCode>
                <c:ptCount val="3"/>
                <c:pt idx="0">
                  <c:v>32030</c:v>
                </c:pt>
                <c:pt idx="1">
                  <c:v>24000</c:v>
                </c:pt>
                <c:pt idx="2">
                  <c:v>8270</c:v>
                </c:pt>
              </c:numCache>
            </c:numRef>
          </c:val>
          <c:extLst>
            <c:ext xmlns:c16="http://schemas.microsoft.com/office/drawing/2014/chart" uri="{C3380CC4-5D6E-409C-BE32-E72D297353CC}">
              <c16:uniqueId val="{00000006-38E8-4DA8-B0FC-8DA8A345E140}"/>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0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3A5F"/>
                </a:solidFill>
                <a:latin typeface="+mn-lt"/>
              </a:defRPr>
            </a:pPr>
            <a:r>
              <a:rPr lang="en-US" sz="1200" b="0" i="0" u="none" strike="noStrike">
                <a:solidFill>
                  <a:srgbClr val="1F3A5F"/>
                </a:solidFill>
                <a:latin typeface="+mn-lt"/>
              </a:rPr>
              <a:t>Total apps by month (thousands)</a:t>
            </a:r>
          </a:p>
        </c:rich>
      </c:tx>
      <c:overlay val="0"/>
    </c:title>
    <c:autoTitleDeleted val="0"/>
    <c:plotArea>
      <c:layout/>
      <c:lineChart>
        <c:grouping val="standard"/>
        <c:varyColors val="0"/>
        <c:ser>
          <c:idx val="0"/>
          <c:order val="0"/>
          <c:tx>
            <c:strRef>
              <c:f>Sheet1!$B$1</c:f>
              <c:strCache>
                <c:ptCount val="1"/>
                <c:pt idx="0">
                  <c:v>Apps (thousands)</c:v>
                </c:pt>
              </c:strCache>
            </c:strRef>
          </c:tx>
          <c:spPr>
            <a:ln w="31750" cap="flat">
              <a:solidFill>
                <a:srgbClr val="1F3A5F"/>
              </a:solidFill>
              <a:prstDash val="solid"/>
              <a:round/>
            </a:ln>
            <a:effectLst/>
          </c:spPr>
          <c:marker>
            <c:symbol val="circle"/>
            <c:size val="6"/>
            <c:spPr>
              <a:solidFill>
                <a:srgbClr val="1F3A5F"/>
              </a:solidFill>
              <a:ln w="9525" cap="flat">
                <a:solidFill>
                  <a:srgbClr val="1F3A5F"/>
                </a:solidFill>
                <a:prstDash val="solid"/>
                <a:round/>
              </a:ln>
              <a:effectLst/>
            </c:spPr>
          </c:marker>
          <c:dLbls>
            <c:numFmt formatCode="#,##0" sourceLinked="0"/>
            <c:spPr>
              <a:noFill/>
              <a:ln>
                <a:noFill/>
              </a:ln>
              <a:effectLst/>
            </c:spPr>
            <c:txPr>
              <a:bodyPr/>
              <a:lstStyle/>
              <a:p>
                <a:pPr>
                  <a:defRPr sz="1000" b="0" i="0" u="none" strike="noStrike">
                    <a:solidFill>
                      <a:srgbClr val="222222"/>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c:v>
                </c:pt>
                <c:pt idx="1">
                  <c:v>1</c:v>
                </c:pt>
                <c:pt idx="2">
                  <c:v>2</c:v>
                </c:pt>
                <c:pt idx="3">
                  <c:v>3</c:v>
                </c:pt>
                <c:pt idx="4">
                  <c:v>4</c:v>
                </c:pt>
                <c:pt idx="5">
                  <c:v>6</c:v>
                </c:pt>
                <c:pt idx="6">
                  <c:v>27</c:v>
                </c:pt>
                <c:pt idx="7">
                  <c:v>14</c:v>
                </c:pt>
                <c:pt idx="8">
                  <c:v>1</c:v>
                </c:pt>
                <c:pt idx="9">
                  <c:v>1</c:v>
                </c:pt>
                <c:pt idx="10">
                  <c:v>1</c:v>
                </c:pt>
                <c:pt idx="11">
                  <c:v>1</c:v>
                </c:pt>
              </c:numCache>
            </c:numRef>
          </c:val>
          <c:smooth val="0"/>
          <c:extLst>
            <c:ext xmlns:c16="http://schemas.microsoft.com/office/drawing/2014/chart" uri="{C3380CC4-5D6E-409C-BE32-E72D297353CC}">
              <c16:uniqueId val="{00000000-F9BF-4ECF-A5B8-BFF91C353E3C}"/>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169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interactive Power BI dashboard analysing the Google Play Store.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come from the problem statement document.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the preparation steps to what you actually did in Power BI.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counts per category come from the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Installs are the sum of the Installs column per category. The total matches the dashboard card.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read from the page 2 visuals of the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map back to the problem statements.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960120"/>
            <a:ext cx="8229600" cy="0"/>
          </a:xfrm>
          <a:prstGeom prst="line">
            <a:avLst/>
          </a:prstGeom>
          <a:noFill/>
          <a:ln w="15875">
            <a:solidFill>
              <a:srgbClr val="1F3A5F"/>
            </a:solidFill>
            <a:prstDash val="solid"/>
          </a:ln>
        </p:spPr>
      </p:sp>
      <p:sp>
        <p:nvSpPr>
          <p:cNvPr id="3" name="Text 1"/>
          <p:cNvSpPr>
            <a:spLocks noGrp="1"/>
          </p:cNvSpPr>
          <p:nvPr>
            <p:ph type="title" idx="101" hasCustomPrompt="1"/>
          </p:nvPr>
        </p:nvSpPr>
        <p:spPr>
          <a:xfrm>
            <a:off x="457200" y="274320"/>
            <a:ext cx="7498080" cy="594360"/>
          </a:xfrm>
          <a:prstGeom prst="rect">
            <a:avLst/>
          </a:prstGeom>
          <a:noFill/>
          <a:ln/>
        </p:spPr>
        <p:txBody>
          <a:bodyPr wrap="square" rtlCol="0"/>
          <a:lstStyle>
            <a:lvl1pPr marL="0" indent="0" algn="l">
              <a:buNone/>
              <a:defRPr lang="en-US" sz="2400" b="1" dirty="0">
                <a:solidFill>
                  <a:srgbClr val="1F3A5F"/>
                </a:solidFill>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2926080"/>
            <a:ext cx="8229600" cy="0"/>
          </a:xfrm>
          <a:prstGeom prst="line">
            <a:avLst/>
          </a:prstGeom>
          <a:noFill/>
          <a:ln w="15875">
            <a:solidFill>
              <a:srgbClr val="1F3A5F"/>
            </a:solidFill>
            <a:prstDash val="solid"/>
          </a:ln>
        </p:spPr>
      </p:sp>
      <p:sp>
        <p:nvSpPr>
          <p:cNvPr id="3" name="Text 1"/>
          <p:cNvSpPr txBox="1"/>
          <p:nvPr/>
        </p:nvSpPr>
        <p:spPr>
          <a:xfrm>
            <a:off x="457200" y="1371600"/>
            <a:ext cx="6583680" cy="914400"/>
          </a:xfrm>
          <a:prstGeom prst="rect">
            <a:avLst/>
          </a:prstGeom>
          <a:noFill/>
          <a:ln/>
        </p:spPr>
        <p:txBody>
          <a:bodyPr wrap="square" lIns="0" tIns="0" rIns="0" bIns="0" rtlCol="0" anchor="b"/>
          <a:lstStyle/>
          <a:p>
            <a:pPr marL="0" indent="0">
              <a:buNone/>
            </a:pPr>
            <a:r>
              <a:rPr lang="en-US" sz="3200" b="1" dirty="0">
                <a:solidFill>
                  <a:srgbClr val="1F3A5F"/>
                </a:solidFill>
                <a:latin typeface="Georgia" pitchFamily="34" charset="0"/>
                <a:ea typeface="Georgia" pitchFamily="34" charset="-122"/>
                <a:cs typeface="Georgia" pitchFamily="34" charset="-120"/>
              </a:rPr>
              <a:t>Google Play Store Analysis</a:t>
            </a:r>
            <a:endParaRPr lang="en-US" sz="3200" dirty="0"/>
          </a:p>
        </p:txBody>
      </p:sp>
      <p:sp>
        <p:nvSpPr>
          <p:cNvPr id="4" name="Text 2"/>
          <p:cNvSpPr txBox="1"/>
          <p:nvPr/>
        </p:nvSpPr>
        <p:spPr>
          <a:xfrm>
            <a:off x="457200" y="2331720"/>
            <a:ext cx="6217920" cy="502920"/>
          </a:xfrm>
          <a:prstGeom prst="rect">
            <a:avLst/>
          </a:prstGeom>
          <a:noFill/>
          <a:ln/>
        </p:spPr>
        <p:txBody>
          <a:bodyPr wrap="square" lIns="0" tIns="0" rIns="0" bIns="0" rtlCol="0" anchor="t"/>
          <a:lstStyle/>
          <a:p>
            <a:pPr marL="0" indent="0">
              <a:buNone/>
            </a:pPr>
            <a:r>
              <a:rPr lang="en-US" sz="1600" dirty="0">
                <a:solidFill>
                  <a:srgbClr val="5A6472"/>
                </a:solidFill>
              </a:rPr>
              <a:t>A Power BI dashboard on app categories, installs, ratings and user sentiment</a:t>
            </a:r>
            <a:endParaRPr lang="en-US" sz="1600" dirty="0"/>
          </a:p>
        </p:txBody>
      </p:sp>
      <p:sp>
        <p:nvSpPr>
          <p:cNvPr id="5" name="Text 3"/>
          <p:cNvSpPr txBox="1"/>
          <p:nvPr/>
        </p:nvSpPr>
        <p:spPr>
          <a:xfrm>
            <a:off x="457200" y="3154680"/>
            <a:ext cx="6400800" cy="274320"/>
          </a:xfrm>
          <a:prstGeom prst="rect">
            <a:avLst/>
          </a:prstGeom>
          <a:noFill/>
          <a:ln/>
        </p:spPr>
        <p:txBody>
          <a:bodyPr wrap="square" lIns="0" tIns="0" rIns="0" bIns="0" rtlCol="0" anchor="ctr"/>
          <a:lstStyle/>
          <a:p>
            <a:pPr marL="0" indent="0">
              <a:buNone/>
            </a:pPr>
            <a:r>
              <a:rPr lang="en-US" sz="1200" dirty="0">
                <a:solidFill>
                  <a:srgbClr val="5A6472"/>
                </a:solidFill>
              </a:rPr>
              <a:t>Data: googleplaystore.csv and googleplaystore_user_reviews.csv</a:t>
            </a:r>
            <a:endParaRPr lang="en-US" sz="1200" dirty="0"/>
          </a:p>
        </p:txBody>
      </p:sp>
      <p:pic>
        <p:nvPicPr>
          <p:cNvPr id="6" name="Image 0" descr="Google Play icon"/>
          <p:cNvPicPr>
            <a:picLocks noChangeAspect="1"/>
          </p:cNvPicPr>
          <p:nvPr/>
        </p:nvPicPr>
        <p:blipFill>
          <a:blip r:embed="rId3"/>
          <a:stretch>
            <a:fillRect/>
          </a:stretch>
        </p:blipFill>
        <p:spPr>
          <a:xfrm>
            <a:off x="7223760" y="1508760"/>
            <a:ext cx="1280160" cy="1280160"/>
          </a:xfrm>
          <a:prstGeom prst="rect">
            <a:avLst/>
          </a:prstGeom>
        </p:spPr>
      </p:pic>
      <p:sp>
        <p:nvSpPr>
          <p:cNvPr id="7" name="Text 4"/>
          <p:cNvSpPr txBox="1"/>
          <p:nvPr/>
        </p:nvSpPr>
        <p:spPr>
          <a:xfrm>
            <a:off x="457200" y="4773168"/>
            <a:ext cx="7680960" cy="228600"/>
          </a:xfrm>
          <a:prstGeom prst="rect">
            <a:avLst/>
          </a:prstGeom>
          <a:noFill/>
          <a:ln/>
        </p:spPr>
        <p:txBody>
          <a:bodyPr wrap="square" lIns="0" tIns="0" rIns="0" bIns="0" rtlCol="0" anchor="ctr"/>
          <a:lstStyle/>
          <a:p>
            <a:pPr marL="0" indent="0">
              <a:buNone/>
            </a:pPr>
            <a:r>
              <a:rPr lang="en-US" sz="900" dirty="0">
                <a:solidFill>
                  <a:srgbClr val="5A6472"/>
                </a:solidFill>
              </a:rPr>
              <a:t>Image source: Font Awesome Free icons (CC BY 4.0), via React Icons - fontawesome.com/license/free</a:t>
            </a:r>
            <a:endParaRPr lang="en-US" sz="900" dirty="0"/>
          </a:p>
        </p:txBody>
      </p:sp>
      <p:sp>
        <p:nvSpPr>
          <p:cNvPr id="9"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endParaRPr lang="en-US" sz="2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Project objective</a:t>
            </a:r>
            <a:endParaRPr lang="en-US" sz="2400" dirty="0"/>
          </a:p>
        </p:txBody>
      </p:sp>
      <p:pic>
        <p:nvPicPr>
          <p:cNvPr id="3" name="Image 0" descr="Target icon"/>
          <p:cNvPicPr>
            <a:picLocks noChangeAspect="1"/>
          </p:cNvPicPr>
          <p:nvPr/>
        </p:nvPicPr>
        <p:blipFill>
          <a:blip r:embed="rId3"/>
          <a:stretch>
            <a:fillRect/>
          </a:stretch>
        </p:blipFill>
        <p:spPr>
          <a:xfrm>
            <a:off x="8229600" y="301752"/>
            <a:ext cx="457200" cy="457200"/>
          </a:xfrm>
          <a:prstGeom prst="rect">
            <a:avLst/>
          </a:prstGeom>
        </p:spPr>
      </p:pic>
      <p:sp>
        <p:nvSpPr>
          <p:cNvPr id="4" name="Text 1"/>
          <p:cNvSpPr txBox="1"/>
          <p:nvPr/>
        </p:nvSpPr>
        <p:spPr>
          <a:xfrm>
            <a:off x="457200" y="1188720"/>
            <a:ext cx="8229600" cy="731520"/>
          </a:xfrm>
          <a:prstGeom prst="rect">
            <a:avLst/>
          </a:prstGeom>
          <a:noFill/>
          <a:ln/>
        </p:spPr>
        <p:txBody>
          <a:bodyPr wrap="square" lIns="0" tIns="0" rIns="0" bIns="0" rtlCol="0" anchor="t"/>
          <a:lstStyle/>
          <a:p>
            <a:pPr marL="0" indent="0">
              <a:buNone/>
            </a:pPr>
            <a:r>
              <a:rPr lang="en-US" sz="1500" dirty="0">
                <a:solidFill>
                  <a:srgbClr val="222222"/>
                </a:solidFill>
              </a:rPr>
              <a:t>The aim is to help an app company understand what drives installs, ratings and reviews on the Play Store, so that decisions on categories, pricing and marketing are based on data.</a:t>
            </a:r>
            <a:endParaRPr lang="en-US" sz="1500" dirty="0"/>
          </a:p>
        </p:txBody>
      </p:sp>
      <p:sp>
        <p:nvSpPr>
          <p:cNvPr id="5" name="Text 2"/>
          <p:cNvSpPr txBox="1"/>
          <p:nvPr/>
        </p:nvSpPr>
        <p:spPr>
          <a:xfrm>
            <a:off x="457200" y="2103120"/>
            <a:ext cx="8229600" cy="2468880"/>
          </a:xfrm>
          <a:prstGeom prst="rect">
            <a:avLst/>
          </a:prstGeom>
          <a:noFill/>
          <a:ln/>
        </p:spPr>
        <p:txBody>
          <a:bodyPr wrap="square" lIns="0" tIns="0" rIns="0" bIns="0" rtlCol="0" anchor="t"/>
          <a:lstStyle/>
          <a:p>
            <a:pPr marL="0" indent="0">
              <a:spcAft>
                <a:spcPts val="800"/>
              </a:spcAft>
              <a:buNone/>
            </a:pPr>
            <a:r>
              <a:rPr lang="en-US" sz="1400" b="1" dirty="0">
                <a:solidFill>
                  <a:srgbClr val="1F3A5F"/>
                </a:solidFill>
              </a:rPr>
              <a:t>Questions the dashboard answers</a:t>
            </a:r>
            <a:endParaRPr lang="en-US" sz="1400" dirty="0"/>
          </a:p>
          <a:p>
            <a:pPr marL="342900" indent="-342900">
              <a:spcAft>
                <a:spcPts val="800"/>
              </a:spcAft>
              <a:buSzPct val="100000"/>
              <a:buChar char="•"/>
            </a:pPr>
            <a:r>
              <a:rPr lang="en-US" sz="1400" dirty="0">
                <a:solidFill>
                  <a:srgbClr val="222222"/>
                </a:solidFill>
              </a:rPr>
              <a:t>Which app categories and genres are the most profitable in terms of installs and engagement?</a:t>
            </a:r>
            <a:endParaRPr lang="en-US" sz="1400" dirty="0"/>
          </a:p>
          <a:p>
            <a:pPr marL="342900" indent="-342900">
              <a:spcAft>
                <a:spcPts val="800"/>
              </a:spcAft>
              <a:buSzPct val="100000"/>
              <a:buChar char="•"/>
            </a:pPr>
            <a:r>
              <a:rPr lang="en-US" sz="1400" dirty="0">
                <a:solidFill>
                  <a:srgbClr val="222222"/>
                </a:solidFill>
              </a:rPr>
              <a:t>What separates highly rated categories from poorly rated ones?</a:t>
            </a:r>
            <a:endParaRPr lang="en-US" sz="1400" dirty="0"/>
          </a:p>
          <a:p>
            <a:pPr marL="342900" indent="-342900">
              <a:spcAft>
                <a:spcPts val="800"/>
              </a:spcAft>
              <a:buSzPct val="100000"/>
              <a:buChar char="•"/>
            </a:pPr>
            <a:r>
              <a:rPr lang="en-US" sz="1400" dirty="0">
                <a:solidFill>
                  <a:srgbClr val="222222"/>
                </a:solidFill>
              </a:rPr>
              <a:t>How should free and paid apps be balanced to grow revenue and the user base?</a:t>
            </a:r>
            <a:endParaRPr lang="en-US" sz="1400" dirty="0"/>
          </a:p>
          <a:p>
            <a:pPr marL="342900" indent="-342900">
              <a:spcAft>
                <a:spcPts val="800"/>
              </a:spcAft>
              <a:buSzPct val="100000"/>
              <a:buChar char="•"/>
            </a:pPr>
            <a:r>
              <a:rPr lang="en-US" sz="1400" dirty="0">
                <a:solidFill>
                  <a:srgbClr val="222222"/>
                </a:solidFill>
              </a:rPr>
              <a:t>Where are the trends and gaps that suggest opportunities for new apps?</a:t>
            </a:r>
            <a:endParaRPr lang="en-US" sz="1400" dirty="0"/>
          </a:p>
        </p:txBody>
      </p:sp>
      <p:sp>
        <p:nvSpPr>
          <p:cNvPr id="6" name="Text 3"/>
          <p:cNvSpPr txBox="1"/>
          <p:nvPr/>
        </p:nvSpPr>
        <p:spPr>
          <a:xfrm>
            <a:off x="457200" y="4773168"/>
            <a:ext cx="7680960" cy="228600"/>
          </a:xfrm>
          <a:prstGeom prst="rect">
            <a:avLst/>
          </a:prstGeom>
          <a:noFill/>
          <a:ln/>
        </p:spPr>
        <p:txBody>
          <a:bodyPr wrap="square" lIns="0" tIns="0" rIns="0" bIns="0" rtlCol="0" anchor="ctr"/>
          <a:lstStyle/>
          <a:p>
            <a:pPr marL="0" indent="0">
              <a:buNone/>
            </a:pPr>
            <a:r>
              <a:rPr lang="en-US" sz="900" dirty="0">
                <a:solidFill>
                  <a:srgbClr val="5A6472"/>
                </a:solidFill>
              </a:rPr>
              <a:t>Image source: Font Awesome Free icons (CC BY 4.0), via React Icons - fontawesome.com/license/free</a:t>
            </a:r>
            <a:endParaRPr lang="en-US" sz="9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Dataset and tools</a:t>
            </a:r>
            <a:endParaRPr lang="en-US" sz="2400" dirty="0"/>
          </a:p>
        </p:txBody>
      </p:sp>
      <p:pic>
        <p:nvPicPr>
          <p:cNvPr id="3" name="Image 0" descr="Database icon"/>
          <p:cNvPicPr>
            <a:picLocks noChangeAspect="1"/>
          </p:cNvPicPr>
          <p:nvPr/>
        </p:nvPicPr>
        <p:blipFill>
          <a:blip r:embed="rId3"/>
          <a:stretch>
            <a:fillRect/>
          </a:stretch>
        </p:blipFill>
        <p:spPr>
          <a:xfrm>
            <a:off x="8229600" y="301752"/>
            <a:ext cx="457200" cy="45720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Records</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columns</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googleplaystore.csv</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10,839 apps</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Category, Rating, Reviews, Installs, Type, Price, Content Rating, Genres, Android Ver</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googleplaystore_user_reviews.csv</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64,294 rows</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App, translated review, sentiment, polarity, subjectivity</a:t>
                      </a:r>
                      <a:endParaRPr lang="en-US" sz="1200" dirty="0">
                        <a:latin typeface="Calibri" charset="0"/>
                        <a:ea typeface="Calibri" charset="0"/>
                        <a:cs typeface="Calibri" charset="0"/>
                      </a:endParaRPr>
                    </a:p>
                  </a:txBody>
                  <a:tcPr marT="54864" marB="54864"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1"/>
          <p:cNvSpPr txBox="1"/>
          <p:nvPr/>
        </p:nvSpPr>
        <p:spPr>
          <a:xfrm>
            <a:off x="457200" y="2743200"/>
            <a:ext cx="8229600" cy="1828800"/>
          </a:xfrm>
          <a:prstGeom prst="rect">
            <a:avLst/>
          </a:prstGeom>
          <a:noFill/>
          <a:ln/>
        </p:spPr>
        <p:txBody>
          <a:bodyPr wrap="square" lIns="0" tIns="0" rIns="0" bIns="0" rtlCol="0" anchor="t"/>
          <a:lstStyle/>
          <a:p>
            <a:pPr marL="0" indent="0">
              <a:spcAft>
                <a:spcPts val="600"/>
              </a:spcAft>
              <a:buNone/>
            </a:pPr>
            <a:r>
              <a:rPr lang="en-US" sz="1400" b="1" dirty="0">
                <a:solidFill>
                  <a:srgbClr val="1F3A5F"/>
                </a:solidFill>
              </a:rPr>
              <a:t>Preparation in Power BI</a:t>
            </a:r>
            <a:endParaRPr lang="en-US" sz="1400" dirty="0"/>
          </a:p>
          <a:p>
            <a:pPr marL="342900" indent="-342900">
              <a:spcAft>
                <a:spcPts val="600"/>
              </a:spcAft>
              <a:buSzPct val="100000"/>
              <a:buChar char="•"/>
            </a:pPr>
            <a:r>
              <a:rPr lang="en-US" sz="1400" dirty="0">
                <a:solidFill>
                  <a:srgbClr val="222222"/>
                </a:solidFill>
              </a:rPr>
              <a:t>Cleaned installs, price and size columns into numeric fields</a:t>
            </a:r>
            <a:endParaRPr lang="en-US" sz="1400" dirty="0"/>
          </a:p>
          <a:p>
            <a:pPr marL="342900" indent="-342900">
              <a:spcAft>
                <a:spcPts val="600"/>
              </a:spcAft>
              <a:buSzPct val="100000"/>
              <a:buChar char="•"/>
            </a:pPr>
            <a:r>
              <a:rPr lang="en-US" sz="1400" dirty="0">
                <a:solidFill>
                  <a:srgbClr val="222222"/>
                </a:solidFill>
              </a:rPr>
              <a:t>Created a Calendar table for the Year and Month Name slicers</a:t>
            </a:r>
            <a:endParaRPr lang="en-US" sz="1400" dirty="0"/>
          </a:p>
          <a:p>
            <a:pPr marL="342900" indent="-342900">
              <a:spcAft>
                <a:spcPts val="600"/>
              </a:spcAft>
              <a:buSzPct val="100000"/>
              <a:buChar char="•"/>
            </a:pPr>
            <a:r>
              <a:rPr lang="en-US" sz="1400" dirty="0">
                <a:solidFill>
                  <a:srgbClr val="222222"/>
                </a:solidFill>
              </a:rPr>
              <a:t>Related the app data to the review data</a:t>
            </a:r>
            <a:endParaRPr lang="en-US" sz="1400" dirty="0"/>
          </a:p>
          <a:p>
            <a:pPr marL="342900" indent="-342900">
              <a:spcAft>
                <a:spcPts val="600"/>
              </a:spcAft>
              <a:buSzPct val="100000"/>
              <a:buChar char="•"/>
            </a:pPr>
            <a:r>
              <a:rPr lang="en-US" sz="1400" dirty="0">
                <a:solidFill>
                  <a:srgbClr val="222222"/>
                </a:solidFill>
              </a:rPr>
              <a:t>Built KPI cards, slicers and a two-page report with page navigation buttons</a:t>
            </a:r>
            <a:endParaRPr lang="en-US" sz="1400" dirty="0"/>
          </a:p>
        </p:txBody>
      </p:sp>
      <p:sp>
        <p:nvSpPr>
          <p:cNvPr id="6" name="Text 2"/>
          <p:cNvSpPr txBox="1"/>
          <p:nvPr/>
        </p:nvSpPr>
        <p:spPr>
          <a:xfrm>
            <a:off x="457200" y="4773168"/>
            <a:ext cx="7680960" cy="228600"/>
          </a:xfrm>
          <a:prstGeom prst="rect">
            <a:avLst/>
          </a:prstGeom>
          <a:noFill/>
          <a:ln/>
        </p:spPr>
        <p:txBody>
          <a:bodyPr wrap="square" lIns="0" tIns="0" rIns="0" bIns="0" rtlCol="0" anchor="ctr"/>
          <a:lstStyle/>
          <a:p>
            <a:pPr marL="0" indent="0">
              <a:buNone/>
            </a:pPr>
            <a:r>
              <a:rPr lang="en-US" sz="900" dirty="0">
                <a:solidFill>
                  <a:srgbClr val="5A6472"/>
                </a:solidFill>
              </a:rPr>
              <a:t>Image source: Font Awesome Free icons (CC BY 4.0), via React Icons - fontawesome.com/license/free</a:t>
            </a:r>
            <a:endParaRPr lang="en-US" sz="9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Dashboard page 1: app overview</a:t>
            </a:r>
            <a:endParaRPr lang="en-US" sz="2400" dirty="0"/>
          </a:p>
        </p:txBody>
      </p:sp>
      <p:pic>
        <p:nvPicPr>
          <p:cNvPr id="3" name="Image 0" descr="Screenshot of dashboard page 1"/>
          <p:cNvPicPr>
            <a:picLocks noChangeAspect="1"/>
          </p:cNvPicPr>
          <p:nvPr/>
        </p:nvPicPr>
        <p:blipFill>
          <a:blip r:embed="rId3"/>
          <a:stretch>
            <a:fillRect/>
          </a:stretch>
        </p:blipFill>
        <p:spPr>
          <a:xfrm>
            <a:off x="457200" y="1188720"/>
            <a:ext cx="5394960" cy="3035808"/>
          </a:xfrm>
          <a:prstGeom prst="rect">
            <a:avLst/>
          </a:prstGeom>
        </p:spPr>
      </p:pic>
      <p:sp>
        <p:nvSpPr>
          <p:cNvPr id="4" name="Text 1"/>
          <p:cNvSpPr txBox="1"/>
          <p:nvPr/>
        </p:nvSpPr>
        <p:spPr>
          <a:xfrm>
            <a:off x="6126480" y="1188720"/>
            <a:ext cx="25603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rPr>
              <a:t>10K apps with an average rating of 3.62</a:t>
            </a:r>
            <a:endParaRPr lang="en-US" sz="1300" dirty="0"/>
          </a:p>
          <a:p>
            <a:pPr marL="342900" indent="-342900">
              <a:spcAft>
                <a:spcPts val="800"/>
              </a:spcAft>
              <a:buSzPct val="100000"/>
              <a:buChar char="•"/>
            </a:pPr>
            <a:r>
              <a:rPr lang="en-US" sz="1300" dirty="0">
                <a:solidFill>
                  <a:srgbClr val="222222"/>
                </a:solidFill>
              </a:rPr>
              <a:t>4,815M total reviews and 167,633M total installs</a:t>
            </a:r>
            <a:endParaRPr lang="en-US" sz="1300" dirty="0"/>
          </a:p>
          <a:p>
            <a:pPr marL="342900" indent="-342900">
              <a:spcAft>
                <a:spcPts val="800"/>
              </a:spcAft>
              <a:buSzPct val="100000"/>
              <a:buChar char="•"/>
            </a:pPr>
            <a:r>
              <a:rPr lang="en-US" sz="1300" dirty="0">
                <a:solidFill>
                  <a:srgbClr val="222222"/>
                </a:solidFill>
              </a:rPr>
              <a:t>Slicers for category, genre, year, month and content rating</a:t>
            </a:r>
            <a:endParaRPr lang="en-US" sz="1300" dirty="0"/>
          </a:p>
          <a:p>
            <a:pPr marL="342900" indent="-342900">
              <a:spcAft>
                <a:spcPts val="800"/>
              </a:spcAft>
              <a:buSzPct val="100000"/>
              <a:buChar char="•"/>
            </a:pPr>
            <a:r>
              <a:rPr lang="en-US" sz="1300" dirty="0">
                <a:solidFill>
                  <a:srgbClr val="222222"/>
                </a:solidFill>
              </a:rPr>
              <a:t>Visuals for apps by category, top apps by rating, app type and popular genres</a:t>
            </a:r>
            <a:endParaRPr lang="en-US" sz="1300" dirty="0"/>
          </a:p>
        </p:txBody>
      </p:sp>
      <p:sp>
        <p:nvSpPr>
          <p:cNvPr id="5" name="Text 2"/>
          <p:cNvSpPr txBox="1"/>
          <p:nvPr/>
        </p:nvSpPr>
        <p:spPr>
          <a:xfrm>
            <a:off x="457200" y="4773168"/>
            <a:ext cx="7680960" cy="228600"/>
          </a:xfrm>
          <a:prstGeom prst="rect">
            <a:avLst/>
          </a:prstGeom>
          <a:noFill/>
          <a:ln/>
        </p:spPr>
        <p:txBody>
          <a:bodyPr wrap="square" lIns="0" tIns="0" rIns="0" bIns="0" rtlCol="0" anchor="ctr"/>
          <a:lstStyle/>
          <a:p>
            <a:pPr marL="0" indent="0">
              <a:buNone/>
            </a:pPr>
            <a:r>
              <a:rPr lang="en-US" sz="900" dirty="0">
                <a:solidFill>
                  <a:srgbClr val="5A6472"/>
                </a:solidFill>
              </a:rPr>
              <a:t>Image source: author's own screenshot of the Power BI report (page 1)</a:t>
            </a:r>
            <a:endParaRPr lang="en-US" sz="9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Family and Game dominate the catalogue</a:t>
            </a:r>
            <a:endParaRPr lang="en-US" sz="2400" dirty="0"/>
          </a:p>
        </p:txBody>
      </p:sp>
      <p:graphicFrame>
        <p:nvGraphicFramePr>
          <p:cNvPr id="3" name="Chart 0"/>
          <p:cNvGraphicFramePr/>
          <p:nvPr/>
        </p:nvGraphicFramePr>
        <p:xfrm>
          <a:off x="457200" y="1143000"/>
          <a:ext cx="530352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6035040" y="1280160"/>
            <a:ext cx="2651760" cy="30175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22222"/>
                </a:solidFill>
              </a:rPr>
              <a:t>Family (1,972) and Game (1,144) together make up about 29% of all apps.</a:t>
            </a:r>
            <a:endParaRPr lang="en-US" sz="1300" dirty="0"/>
          </a:p>
          <a:p>
            <a:pPr marL="342900" indent="-342900">
              <a:spcAft>
                <a:spcPts val="1000"/>
              </a:spcAft>
              <a:buSzPct val="100000"/>
              <a:buChar char="•"/>
            </a:pPr>
            <a:r>
              <a:rPr lang="en-US" sz="1300" dirty="0">
                <a:solidFill>
                  <a:srgbClr val="222222"/>
                </a:solidFill>
              </a:rPr>
              <a:t>Tools, Medical and Business form a second tier with 450 or more apps each.</a:t>
            </a:r>
            <a:endParaRPr lang="en-US" sz="1300" dirty="0"/>
          </a:p>
          <a:p>
            <a:pPr marL="342900" indent="-342900">
              <a:spcAft>
                <a:spcPts val="1000"/>
              </a:spcAft>
              <a:buSzPct val="100000"/>
              <a:buChar char="•"/>
            </a:pPr>
            <a:r>
              <a:rPr lang="en-US" sz="1300" dirty="0">
                <a:solidFill>
                  <a:srgbClr val="222222"/>
                </a:solidFill>
              </a:rPr>
              <a:t>A crowded category means stronger competition, so installs per app should be checked before entering.</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Games and Communication drive installs</a:t>
            </a:r>
            <a:endParaRPr lang="en-US" sz="2400" dirty="0"/>
          </a:p>
        </p:txBody>
      </p:sp>
      <p:pic>
        <p:nvPicPr>
          <p:cNvPr id="3" name="Image 0" descr="Download icon"/>
          <p:cNvPicPr>
            <a:picLocks noChangeAspect="1"/>
          </p:cNvPicPr>
          <p:nvPr/>
        </p:nvPicPr>
        <p:blipFill>
          <a:blip r:embed="rId3"/>
          <a:stretch>
            <a:fillRect/>
          </a:stretch>
        </p:blipFill>
        <p:spPr>
          <a:xfrm>
            <a:off x="8229600" y="301752"/>
            <a:ext cx="457200" cy="457200"/>
          </a:xfrm>
          <a:prstGeom prst="rect">
            <a:avLst/>
          </a:prstGeom>
        </p:spPr>
      </p:pic>
      <p:graphicFrame>
        <p:nvGraphicFramePr>
          <p:cNvPr id="4" name="Chart 0"/>
          <p:cNvGraphicFramePr/>
          <p:nvPr/>
        </p:nvGraphicFramePr>
        <p:xfrm>
          <a:off x="457200" y="1143000"/>
          <a:ext cx="5303520" cy="347472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txBox="1"/>
          <p:nvPr/>
        </p:nvSpPr>
        <p:spPr>
          <a:xfrm>
            <a:off x="6035040" y="1280160"/>
            <a:ext cx="2651760" cy="30175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22222"/>
                </a:solidFill>
              </a:rPr>
              <a:t>Game (35.1B) and Communication (32.6B) account for about 40% of the 167.6B total installs.</a:t>
            </a:r>
            <a:endParaRPr lang="en-US" sz="1300" dirty="0"/>
          </a:p>
          <a:p>
            <a:pPr marL="342900" indent="-342900">
              <a:spcAft>
                <a:spcPts val="1000"/>
              </a:spcAft>
              <a:buSzPct val="100000"/>
              <a:buChar char="•"/>
            </a:pPr>
            <a:r>
              <a:rPr lang="en-US" sz="1300" dirty="0">
                <a:solidFill>
                  <a:srgbClr val="222222"/>
                </a:solidFill>
              </a:rPr>
              <a:t>Family has the most apps but only 10.3B installs, so each app earns far fewer installs.</a:t>
            </a:r>
            <a:endParaRPr lang="en-US" sz="1300" dirty="0"/>
          </a:p>
          <a:p>
            <a:pPr marL="342900" indent="-342900">
              <a:spcAft>
                <a:spcPts val="1000"/>
              </a:spcAft>
              <a:buSzPct val="100000"/>
              <a:buChar char="•"/>
            </a:pPr>
            <a:r>
              <a:rPr lang="en-US" sz="1300" dirty="0">
                <a:solidFill>
                  <a:srgbClr val="222222"/>
                </a:solidFill>
              </a:rPr>
              <a:t>Games and communication apps offer the widest reach.</a:t>
            </a:r>
            <a:endParaRPr lang="en-US" sz="1300" dirty="0"/>
          </a:p>
        </p:txBody>
      </p:sp>
      <p:sp>
        <p:nvSpPr>
          <p:cNvPr id="6" name="Text 2"/>
          <p:cNvSpPr txBox="1"/>
          <p:nvPr/>
        </p:nvSpPr>
        <p:spPr>
          <a:xfrm>
            <a:off x="457200" y="4773168"/>
            <a:ext cx="7680960" cy="228600"/>
          </a:xfrm>
          <a:prstGeom prst="rect">
            <a:avLst/>
          </a:prstGeom>
          <a:noFill/>
          <a:ln/>
        </p:spPr>
        <p:txBody>
          <a:bodyPr wrap="square" lIns="0" tIns="0" rIns="0" bIns="0" rtlCol="0" anchor="ctr"/>
          <a:lstStyle/>
          <a:p>
            <a:pPr marL="0" indent="0">
              <a:buNone/>
            </a:pPr>
            <a:r>
              <a:rPr lang="en-US" sz="900" dirty="0">
                <a:solidFill>
                  <a:srgbClr val="5A6472"/>
                </a:solidFill>
              </a:rPr>
              <a:t>Image source: Font Awesome Free icons (CC BY 4.0), via React Icons - fontawesome.com/license/free</a:t>
            </a:r>
            <a:endParaRPr lang="en-US" sz="9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Free apps dominate the market</a:t>
            </a:r>
            <a:endParaRPr lang="en-US" sz="2400" dirty="0"/>
          </a:p>
        </p:txBody>
      </p:sp>
      <p:graphicFrame>
        <p:nvGraphicFramePr>
          <p:cNvPr id="3" name="Chart 0"/>
          <p:cNvGraphicFramePr/>
          <p:nvPr/>
        </p:nvGraphicFramePr>
        <p:xfrm>
          <a:off x="457200" y="1143000"/>
          <a:ext cx="329184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3931920" y="1143000"/>
          <a:ext cx="475488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txBox="1"/>
          <p:nvPr/>
        </p:nvSpPr>
        <p:spPr>
          <a:xfrm>
            <a:off x="457200" y="4297680"/>
            <a:ext cx="8229600" cy="411480"/>
          </a:xfrm>
          <a:prstGeom prst="rect">
            <a:avLst/>
          </a:prstGeom>
          <a:noFill/>
          <a:ln/>
        </p:spPr>
        <p:txBody>
          <a:bodyPr wrap="square" lIns="0" tIns="0" rIns="0" bIns="0" rtlCol="0" anchor="t"/>
          <a:lstStyle/>
          <a:p>
            <a:pPr marL="0" indent="0">
              <a:buNone/>
            </a:pPr>
            <a:r>
              <a:rPr lang="en-US" sz="1200" dirty="0">
                <a:solidFill>
                  <a:srgbClr val="5A6472"/>
                </a:solidFill>
              </a:rPr>
              <a:t>93% of apps are free (10,039) and 7% are paid (800). Unrated apps average only 2.1, which pulls the overall average down to 3.62.</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Dashboard page 2: reviews and sentiment</a:t>
            </a:r>
            <a:endParaRPr lang="en-US" sz="2400" dirty="0"/>
          </a:p>
        </p:txBody>
      </p:sp>
      <p:pic>
        <p:nvPicPr>
          <p:cNvPr id="3" name="Image 0" descr="Screenshot of dashboard page 2"/>
          <p:cNvPicPr>
            <a:picLocks noChangeAspect="1"/>
          </p:cNvPicPr>
          <p:nvPr/>
        </p:nvPicPr>
        <p:blipFill>
          <a:blip r:embed="rId3"/>
          <a:stretch>
            <a:fillRect/>
          </a:stretch>
        </p:blipFill>
        <p:spPr>
          <a:xfrm>
            <a:off x="457200" y="1188720"/>
            <a:ext cx="5394960" cy="3035808"/>
          </a:xfrm>
          <a:prstGeom prst="rect">
            <a:avLst/>
          </a:prstGeom>
        </p:spPr>
      </p:pic>
      <p:sp>
        <p:nvSpPr>
          <p:cNvPr id="4" name="Text 1"/>
          <p:cNvSpPr txBox="1"/>
          <p:nvPr/>
        </p:nvSpPr>
        <p:spPr>
          <a:xfrm>
            <a:off x="6126480" y="1188720"/>
            <a:ext cx="25603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rPr>
              <a:t>Positive reviews 24K, neutral 32K, negative 8K</a:t>
            </a:r>
            <a:endParaRPr lang="en-US" sz="1300" dirty="0"/>
          </a:p>
          <a:p>
            <a:pPr marL="342900" indent="-342900">
              <a:spcAft>
                <a:spcPts val="800"/>
              </a:spcAft>
              <a:buSzPct val="100000"/>
              <a:buChar char="•"/>
            </a:pPr>
            <a:r>
              <a:rPr lang="en-US" sz="1300" dirty="0">
                <a:solidFill>
                  <a:srgbClr val="222222"/>
                </a:solidFill>
              </a:rPr>
              <a:t>Top 10 positive reviews by app, category, size, price and content rating</a:t>
            </a:r>
            <a:endParaRPr lang="en-US" sz="1300" dirty="0"/>
          </a:p>
          <a:p>
            <a:pPr marL="342900" indent="-342900">
              <a:spcAft>
                <a:spcPts val="800"/>
              </a:spcAft>
              <a:buSzPct val="100000"/>
              <a:buChar char="•"/>
            </a:pPr>
            <a:r>
              <a:rPr lang="en-US" sz="1300" dirty="0">
                <a:solidFill>
                  <a:srgbClr val="222222"/>
                </a:solidFill>
              </a:rPr>
              <a:t>Word cloud of recent reviews</a:t>
            </a:r>
            <a:endParaRPr lang="en-US" sz="1300" dirty="0"/>
          </a:p>
          <a:p>
            <a:pPr marL="342900" indent="-342900">
              <a:spcAft>
                <a:spcPts val="800"/>
              </a:spcAft>
              <a:buSzPct val="100000"/>
              <a:buChar char="•"/>
            </a:pPr>
            <a:r>
              <a:rPr lang="en-US" sz="1300" dirty="0">
                <a:solidFill>
                  <a:srgbClr val="222222"/>
                </a:solidFill>
              </a:rPr>
              <a:t>Monthly view of app activity</a:t>
            </a:r>
            <a:endParaRPr lang="en-US" sz="1300" dirty="0"/>
          </a:p>
        </p:txBody>
      </p:sp>
      <p:sp>
        <p:nvSpPr>
          <p:cNvPr id="5" name="Text 2"/>
          <p:cNvSpPr txBox="1"/>
          <p:nvPr/>
        </p:nvSpPr>
        <p:spPr>
          <a:xfrm>
            <a:off x="457200" y="4773168"/>
            <a:ext cx="7680960" cy="228600"/>
          </a:xfrm>
          <a:prstGeom prst="rect">
            <a:avLst/>
          </a:prstGeom>
          <a:noFill/>
          <a:ln/>
        </p:spPr>
        <p:txBody>
          <a:bodyPr wrap="square" lIns="0" tIns="0" rIns="0" bIns="0" rtlCol="0" anchor="ctr"/>
          <a:lstStyle/>
          <a:p>
            <a:pPr marL="0" indent="0">
              <a:buNone/>
            </a:pPr>
            <a:r>
              <a:rPr lang="en-US" sz="900" dirty="0">
                <a:solidFill>
                  <a:srgbClr val="5A6472"/>
                </a:solidFill>
              </a:rPr>
              <a:t>Image source: author's own screenshot of the Power BI report (page 2)</a:t>
            </a:r>
            <a:endParaRPr lang="en-US" sz="9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Sentiment and monthly activity</a:t>
            </a:r>
            <a:endParaRPr lang="en-US" sz="2400" dirty="0"/>
          </a:p>
        </p:txBody>
      </p:sp>
      <p:pic>
        <p:nvPicPr>
          <p:cNvPr id="3" name="Image 0" descr="Comments icon"/>
          <p:cNvPicPr>
            <a:picLocks noChangeAspect="1"/>
          </p:cNvPicPr>
          <p:nvPr/>
        </p:nvPicPr>
        <p:blipFill>
          <a:blip r:embed="rId3"/>
          <a:stretch>
            <a:fillRect/>
          </a:stretch>
        </p:blipFill>
        <p:spPr>
          <a:xfrm>
            <a:off x="8229600" y="301752"/>
            <a:ext cx="457200" cy="457200"/>
          </a:xfrm>
          <a:prstGeom prst="rect">
            <a:avLst/>
          </a:prstGeom>
        </p:spPr>
      </p:pic>
      <p:graphicFrame>
        <p:nvGraphicFramePr>
          <p:cNvPr id="4" name="Chart 0"/>
          <p:cNvGraphicFramePr/>
          <p:nvPr/>
        </p:nvGraphicFramePr>
        <p:xfrm>
          <a:off x="457200" y="1143000"/>
          <a:ext cx="3291840" cy="30175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1"/>
          <p:cNvGraphicFramePr/>
          <p:nvPr/>
        </p:nvGraphicFramePr>
        <p:xfrm>
          <a:off x="3931920" y="1143000"/>
          <a:ext cx="475488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 1"/>
          <p:cNvSpPr txBox="1"/>
          <p:nvPr/>
        </p:nvSpPr>
        <p:spPr>
          <a:xfrm>
            <a:off x="457200" y="4251960"/>
            <a:ext cx="8229600" cy="411480"/>
          </a:xfrm>
          <a:prstGeom prst="rect">
            <a:avLst/>
          </a:prstGeom>
          <a:noFill/>
          <a:ln/>
        </p:spPr>
        <p:txBody>
          <a:bodyPr wrap="square" lIns="0" tIns="0" rIns="0" bIns="0" rtlCol="0" anchor="t"/>
          <a:lstStyle/>
          <a:p>
            <a:pPr marL="0" indent="0">
              <a:buNone/>
            </a:pPr>
            <a:r>
              <a:rPr lang="en-US" sz="1200" dirty="0">
                <a:solidFill>
                  <a:srgbClr val="5A6472"/>
                </a:solidFill>
              </a:rPr>
              <a:t>Only 13% of reviews are negative (8.27K), against 37% positive. Activity jumps in July (27K) and August (14K), then returns to about 1K.</a:t>
            </a:r>
            <a:endParaRPr lang="en-US" sz="1200" dirty="0"/>
          </a:p>
        </p:txBody>
      </p:sp>
      <p:sp>
        <p:nvSpPr>
          <p:cNvPr id="7" name="Text 2"/>
          <p:cNvSpPr txBox="1"/>
          <p:nvPr/>
        </p:nvSpPr>
        <p:spPr>
          <a:xfrm>
            <a:off x="457200" y="4773168"/>
            <a:ext cx="7680960" cy="228600"/>
          </a:xfrm>
          <a:prstGeom prst="rect">
            <a:avLst/>
          </a:prstGeom>
          <a:noFill/>
          <a:ln/>
        </p:spPr>
        <p:txBody>
          <a:bodyPr wrap="square" lIns="0" tIns="0" rIns="0" bIns="0" rtlCol="0" anchor="ctr"/>
          <a:lstStyle/>
          <a:p>
            <a:pPr marL="0" indent="0">
              <a:buNone/>
            </a:pPr>
            <a:r>
              <a:rPr lang="en-US" sz="900" dirty="0">
                <a:solidFill>
                  <a:srgbClr val="5A6472"/>
                </a:solidFill>
              </a:rPr>
              <a:t>Image source: Font Awesome Free icons (CC BY 4.0), via React Icons - fontawesome.com/license/free</a:t>
            </a:r>
            <a:endParaRPr lang="en-US" sz="9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Key insights and recommendations</a:t>
            </a:r>
            <a:endParaRPr lang="en-US" sz="2400" dirty="0"/>
          </a:p>
        </p:txBody>
      </p:sp>
      <p:pic>
        <p:nvPicPr>
          <p:cNvPr id="3" name="Image 0" descr="Light bulb icon"/>
          <p:cNvPicPr>
            <a:picLocks noChangeAspect="1"/>
          </p:cNvPicPr>
          <p:nvPr/>
        </p:nvPicPr>
        <p:blipFill>
          <a:blip r:embed="rId3"/>
          <a:stretch>
            <a:fillRect/>
          </a:stretch>
        </p:blipFill>
        <p:spPr>
          <a:xfrm>
            <a:off x="8229600" y="301752"/>
            <a:ext cx="457200" cy="45720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292096"/>
        </p:xfrm>
        <a:graphic>
          <a:graphicData uri="http://schemas.openxmlformats.org/drawingml/2006/table">
            <a:tbl>
              <a:tblPr/>
              <a:tblGrid>
                <a:gridCol w="457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tc>
                  <a:txBody>
                    <a:bodyPr/>
                    <a:lstStyle/>
                    <a:p>
                      <a:pPr marL="0" indent="0">
                        <a:buNone/>
                      </a:pPr>
                      <a:r>
                        <a:rPr lang="en-US" sz="1300" b="1" dirty="0">
                          <a:solidFill>
                            <a:srgbClr val="1F3A5F"/>
                          </a:solidFill>
                          <a:latin typeface="Calibri" pitchFamily="34" charset="0"/>
                          <a:ea typeface="Calibri" pitchFamily="34" charset="-122"/>
                          <a:cs typeface="Calibri" pitchFamily="34" charset="-120"/>
                        </a:rPr>
                        <a:t>Target high-install categories</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Game and Communication offer the most reach.</a:t>
                      </a:r>
                      <a:endParaRPr lang="en-US" sz="12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tc>
                  <a:txBody>
                    <a:bodyPr/>
                    <a:lstStyle/>
                    <a:p>
                      <a:pPr marL="0" indent="0">
                        <a:buNone/>
                      </a:pPr>
                      <a:r>
                        <a:rPr lang="en-US" sz="1300" b="1" dirty="0">
                          <a:solidFill>
                            <a:srgbClr val="1F3A5F"/>
                          </a:solidFill>
                          <a:latin typeface="Calibri" pitchFamily="34" charset="0"/>
                          <a:ea typeface="Calibri" pitchFamily="34" charset="-122"/>
                          <a:cs typeface="Calibri" pitchFamily="34" charset="-120"/>
                        </a:rPr>
                        <a:t>Look for gaps</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Categories with strong ratings but few apps leave room for new, high-demand apps.</a:t>
                      </a:r>
                      <a:endParaRPr lang="en-US" sz="12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tc>
                  <a:txBody>
                    <a:bodyPr/>
                    <a:lstStyle/>
                    <a:p>
                      <a:pPr marL="0" indent="0">
                        <a:buNone/>
                      </a:pPr>
                      <a:r>
                        <a:rPr lang="en-US" sz="1300" b="1" dirty="0">
                          <a:solidFill>
                            <a:srgbClr val="1F3A5F"/>
                          </a:solidFill>
                          <a:latin typeface="Calibri" pitchFamily="34" charset="0"/>
                          <a:ea typeface="Calibri" pitchFamily="34" charset="-122"/>
                          <a:cs typeface="Calibri" pitchFamily="34" charset="-120"/>
                        </a:rPr>
                        <a:t>Stay free-first</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Most apps are free; rely on in-app revenue and keep paid apps for niche value.</a:t>
                      </a:r>
                      <a:endParaRPr lang="en-US" sz="12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tc>
                  <a:txBody>
                    <a:bodyPr/>
                    <a:lstStyle/>
                    <a:p>
                      <a:pPr marL="0" indent="0">
                        <a:buNone/>
                      </a:pPr>
                      <a:r>
                        <a:rPr lang="en-US" sz="1300" b="1" dirty="0">
                          <a:solidFill>
                            <a:srgbClr val="1F3A5F"/>
                          </a:solidFill>
                          <a:latin typeface="Calibri" pitchFamily="34" charset="0"/>
                          <a:ea typeface="Calibri" pitchFamily="34" charset="-122"/>
                          <a:cs typeface="Calibri" pitchFamily="34" charset="-120"/>
                        </a:rPr>
                        <a:t>Improve low ratings</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Encourage early reviews and respond to complaints, especially for unrated apps.</a:t>
                      </a:r>
                      <a:endParaRPr lang="en-US" sz="12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tc>
                  <a:txBody>
                    <a:bodyPr/>
                    <a:lstStyle/>
                    <a:p>
                      <a:pPr marL="0" indent="0">
                        <a:buNone/>
                      </a:pPr>
                      <a:r>
                        <a:rPr lang="en-US" sz="1300" b="1" dirty="0">
                          <a:solidFill>
                            <a:srgbClr val="1F3A5F"/>
                          </a:solidFill>
                          <a:latin typeface="Calibri" pitchFamily="34" charset="0"/>
                          <a:ea typeface="Calibri" pitchFamily="34" charset="-122"/>
                          <a:cs typeface="Calibri" pitchFamily="34" charset="-120"/>
                        </a:rPr>
                        <a:t>Plan around July and August</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Time releases and marketing campaigns before the seasonal peak.</a:t>
                      </a:r>
                      <a:endParaRPr lang="en-US" sz="12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F3A5F"/>
                    </a:solidFill>
                  </a:tcPr>
                </a:tc>
                <a:tc>
                  <a:txBody>
                    <a:bodyPr/>
                    <a:lstStyle/>
                    <a:p>
                      <a:pPr marL="0" indent="0">
                        <a:buNone/>
                      </a:pPr>
                      <a:r>
                        <a:rPr lang="en-US" sz="1300" b="1" dirty="0">
                          <a:solidFill>
                            <a:srgbClr val="1F3A5F"/>
                          </a:solidFill>
                          <a:latin typeface="Calibri" pitchFamily="34" charset="0"/>
                          <a:ea typeface="Calibri" pitchFamily="34" charset="-122"/>
                          <a:cs typeface="Calibri" pitchFamily="34" charset="-120"/>
                        </a:rPr>
                        <a:t>Prioritise popular Android versions</a:t>
                      </a:r>
                      <a:endParaRPr lang="en-US" sz="13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Support the versions with the largest share of apps first.</a:t>
                      </a:r>
                      <a:endParaRPr lang="en-US" sz="1200" dirty="0">
                        <a:latin typeface="Calibri" charset="0"/>
                        <a:ea typeface="Calibri" charset="0"/>
                        <a:cs typeface="Calibri" charset="0"/>
                      </a:endParaRPr>
                    </a:p>
                  </a:txBody>
                  <a:tcPr marT="64008" marB="6400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1"/>
          <p:cNvSpPr txBox="1"/>
          <p:nvPr/>
        </p:nvSpPr>
        <p:spPr>
          <a:xfrm>
            <a:off x="457200" y="4773168"/>
            <a:ext cx="7680960" cy="228600"/>
          </a:xfrm>
          <a:prstGeom prst="rect">
            <a:avLst/>
          </a:prstGeom>
          <a:noFill/>
          <a:ln/>
        </p:spPr>
        <p:txBody>
          <a:bodyPr wrap="square" lIns="0" tIns="0" rIns="0" bIns="0" rtlCol="0" anchor="ctr"/>
          <a:lstStyle/>
          <a:p>
            <a:pPr marL="0" indent="0">
              <a:buNone/>
            </a:pPr>
            <a:r>
              <a:rPr lang="en-US" sz="900" dirty="0">
                <a:solidFill>
                  <a:srgbClr val="5A6472"/>
                </a:solidFill>
              </a:rPr>
              <a:t>Image source: Font Awesome Free icons (CC BY 4.0), via React Icons - fontawesome.com/license/free</a:t>
            </a:r>
            <a:endParaRPr lang="en-US" sz="9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7498080" cy="594360"/>
          </a:xfrm>
          <a:prstGeom prst="rect">
            <a:avLst/>
          </a:prstGeom>
          <a:noFill/>
          <a:ln/>
        </p:spPr>
        <p:txBody>
          <a:bodyPr wrap="square" lIns="0" tIns="0" rIns="0" bIns="0" rtlCol="0" anchor="ctr"/>
          <a:lstStyle/>
          <a:p>
            <a:pPr marL="0" indent="0" algn="l">
              <a:buNone/>
            </a:pPr>
            <a:r>
              <a:rPr lang="en-US" sz="2400" b="1" dirty="0">
                <a:solidFill>
                  <a:srgbClr val="1F3A5F"/>
                </a:solidFill>
              </a:rPr>
              <a:t>Conclusion</a:t>
            </a:r>
            <a:endParaRPr lang="en-US" sz="2400" dirty="0"/>
          </a:p>
        </p:txBody>
      </p:sp>
      <p:sp>
        <p:nvSpPr>
          <p:cNvPr id="3" name="Text 1"/>
          <p:cNvSpPr txBox="1"/>
          <p:nvPr/>
        </p:nvSpPr>
        <p:spPr>
          <a:xfrm>
            <a:off x="457200" y="1280160"/>
            <a:ext cx="822960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22222"/>
                </a:solidFill>
              </a:rPr>
              <a:t>The dashboard shows where installs, ratings and reviews are concentrated across the Play Store.</a:t>
            </a:r>
            <a:endParaRPr lang="en-US" sz="1600" dirty="0"/>
          </a:p>
          <a:p>
            <a:pPr marL="342900" indent="-342900">
              <a:spcAft>
                <a:spcPts val="1200"/>
              </a:spcAft>
              <a:buSzPct val="100000"/>
              <a:buChar char="•"/>
            </a:pPr>
            <a:r>
              <a:rPr lang="en-US" sz="1600" dirty="0">
                <a:solidFill>
                  <a:srgbClr val="222222"/>
                </a:solidFill>
              </a:rPr>
              <a:t>Game and Communication lead on installs, free apps dominate, and sentiment is largely neutral to positive.</a:t>
            </a:r>
            <a:endParaRPr lang="en-US" sz="1600" dirty="0"/>
          </a:p>
          <a:p>
            <a:pPr marL="342900" indent="-342900">
              <a:spcAft>
                <a:spcPts val="1200"/>
              </a:spcAft>
              <a:buSzPct val="100000"/>
              <a:buChar char="•"/>
            </a:pPr>
            <a:r>
              <a:rPr lang="en-US" sz="1600" dirty="0">
                <a:solidFill>
                  <a:srgbClr val="222222"/>
                </a:solidFill>
              </a:rPr>
              <a:t>Next steps: add revenue estimates, an Android version analysis and category growth over time.</a:t>
            </a:r>
          </a:p>
          <a:p>
            <a:pPr marL="342900" indent="-342900">
              <a:spcAft>
                <a:spcPts val="1200"/>
              </a:spcAft>
              <a:buSzPct val="100000"/>
              <a:buChar char="•"/>
            </a:pPr>
            <a:endParaRPr lang="en-US" sz="1600" dirty="0">
              <a:solidFill>
                <a:srgbClr val="222222"/>
              </a:solidFill>
            </a:endParaRPr>
          </a:p>
          <a:p>
            <a:pPr marL="342900" indent="-342900">
              <a:spcAft>
                <a:spcPts val="1200"/>
              </a:spcAft>
              <a:buSzPct val="100000"/>
              <a:buChar char="•"/>
            </a:pPr>
            <a:endParaRPr lang="en-US" sz="1600" dirty="0">
              <a:solidFill>
                <a:srgbClr val="222222"/>
              </a:solidFill>
            </a:endParaRPr>
          </a:p>
          <a:p>
            <a:pPr marL="342900" indent="-342900">
              <a:spcAft>
                <a:spcPts val="1200"/>
              </a:spcAft>
              <a:buSzPct val="100000"/>
              <a:buChar char="•"/>
            </a:pPr>
            <a:endParaRPr lang="en-US" sz="1600" dirty="0">
              <a:solidFill>
                <a:srgbClr val="222222"/>
              </a:solidFill>
            </a:endParaRPr>
          </a:p>
          <a:p>
            <a:pPr marL="342900" indent="-342900">
              <a:spcAft>
                <a:spcPts val="1200"/>
              </a:spcAft>
              <a:buSzPct val="100000"/>
              <a:buChar char="•"/>
            </a:pPr>
            <a:endParaRPr lang="en-US" sz="1600" dirty="0">
              <a:solidFill>
                <a:srgbClr val="222222"/>
              </a:solidFill>
            </a:endParaRPr>
          </a:p>
          <a:p>
            <a:pPr algn="r">
              <a:spcAft>
                <a:spcPts val="1200"/>
              </a:spcAft>
              <a:buSzPct val="100000"/>
            </a:pPr>
            <a:r>
              <a:rPr lang="en-US" sz="1600" dirty="0">
                <a:solidFill>
                  <a:srgbClr val="222222"/>
                </a:solidFill>
              </a:rPr>
              <a:t>      </a:t>
            </a:r>
            <a:r>
              <a:rPr lang="en-US" sz="1600">
                <a:solidFill>
                  <a:srgbClr val="222222"/>
                </a:solidFill>
              </a:rPr>
              <a:t>Thank you</a:t>
            </a:r>
            <a:endParaRPr lang="en-US" sz="1600" dirty="0">
              <a:solidFill>
                <a:srgbClr val="222222"/>
              </a:solidFill>
            </a:endParaRPr>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A6472"/>
                </a:solidFill>
              </a:defRPr>
            </a:lvl1pPr>
          </a:lstStyle>
          <a:p>
            <a:pPr algn="l"/>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Formal">
  <a:themeElements>
    <a:clrScheme name="Formal">
      <a:dk1>
        <a:srgbClr val="222222"/>
      </a:dk1>
      <a:lt1>
        <a:srgbClr val="FFFFFF"/>
      </a:lt1>
      <a:dk2>
        <a:srgbClr val="1F3A5F"/>
      </a:dk2>
      <a:lt2>
        <a:srgbClr val="F2F4F7"/>
      </a:lt2>
      <a:accent1>
        <a:srgbClr val="1F3A5F"/>
      </a:accent1>
      <a:accent2>
        <a:srgbClr val="4F6D8F"/>
      </a:accent2>
      <a:accent3>
        <a:srgbClr val="9FB3C8"/>
      </a:accent3>
      <a:accent4>
        <a:srgbClr val="B5483F"/>
      </a:accent4>
      <a:accent5>
        <a:srgbClr val="6B7785"/>
      </a:accent5>
      <a:accent6>
        <a:srgbClr val="C9D1DB"/>
      </a:accent6>
      <a:hlink>
        <a:srgbClr val="1F3A5F"/>
      </a:hlink>
      <a:folHlink>
        <a:srgbClr val="4F6D8F"/>
      </a:folHlink>
    </a:clrScheme>
    <a:fontScheme name="Forma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966</Words>
  <Application>Microsoft Office PowerPoint</Application>
  <PresentationFormat>On-screen Show (16:9)</PresentationFormat>
  <Paragraphs>121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Formal</vt:lpstr>
      <vt:lpstr>PowerPoint Presentation</vt:lpstr>
      <vt:lpstr>Project objective</vt:lpstr>
      <vt:lpstr>Dataset and tools</vt:lpstr>
      <vt:lpstr>Dashboard page 1: app overview</vt:lpstr>
      <vt:lpstr>Family and Game dominate the catalogue</vt:lpstr>
      <vt:lpstr>Games and Communication drive installs</vt:lpstr>
      <vt:lpstr>Free apps dominate the market</vt:lpstr>
      <vt:lpstr>Dashboard page 2: reviews and sentiment</vt:lpstr>
      <vt:lpstr>Sentiment and monthly activity</vt:lpstr>
      <vt:lpstr>Key insights and recommendations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madhan m</cp:lastModifiedBy>
  <cp:revision>3</cp:revision>
  <dcterms:created xsi:type="dcterms:W3CDTF">2026-10-11T14:41:11Z</dcterms:created>
  <dcterms:modified xsi:type="dcterms:W3CDTF">2026-10-11T14:57:18Z</dcterms:modified>
</cp:coreProperties>
</file>